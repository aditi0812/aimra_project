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78" r:id="rId5"/>
    <p:sldId id="259" r:id="rId6"/>
    <p:sldId id="264" r:id="rId7"/>
    <p:sldId id="290" r:id="rId8"/>
    <p:sldId id="295" r:id="rId9"/>
    <p:sldId id="270" r:id="rId10"/>
    <p:sldId id="292" r:id="rId11"/>
    <p:sldId id="297" r:id="rId13"/>
    <p:sldId id="298" r:id="rId14"/>
    <p:sldId id="299" r:id="rId15"/>
    <p:sldId id="272" r:id="rId16"/>
    <p:sldId id="300" r:id="rId17"/>
    <p:sldId id="273" r:id="rId18"/>
    <p:sldId id="276" r:id="rId19"/>
    <p:sldId id="293" r:id="rId20"/>
    <p:sldId id="294" r:id="rId21"/>
    <p:sldId id="274" r:id="rId22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A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6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 indent="-228600"/>
            <a:r>
              <a:rPr lang="en-US" altLang="en-US" dirty="0"/>
              <a:t>Second level</a:t>
            </a:r>
            <a:endParaRPr lang="en-US" altLang="en-US" dirty="0"/>
          </a:p>
          <a:p>
            <a:pPr lvl="2" indent="-228600"/>
            <a:r>
              <a:rPr lang="en-US" altLang="en-US" dirty="0"/>
              <a:t>Third level</a:t>
            </a:r>
            <a:endParaRPr lang="en-US" altLang="en-US" dirty="0"/>
          </a:p>
          <a:p>
            <a:pPr lvl="3" indent="-228600"/>
            <a:r>
              <a:rPr lang="en-US" altLang="en-US" dirty="0"/>
              <a:t>Fourth level</a:t>
            </a:r>
            <a:endParaRPr lang="en-US" altLang="en-US" dirty="0"/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 indent="-228600"/>
            <a:r>
              <a:rPr lang="en-US" altLang="en-US" dirty="0"/>
              <a:t>Second level</a:t>
            </a:r>
            <a:endParaRPr lang="en-US" altLang="en-US" dirty="0"/>
          </a:p>
          <a:p>
            <a:pPr lvl="2" indent="-228600"/>
            <a:r>
              <a:rPr lang="en-US" altLang="en-US" dirty="0"/>
              <a:t>Third level</a:t>
            </a:r>
            <a:endParaRPr lang="en-US" altLang="en-US" dirty="0"/>
          </a:p>
          <a:p>
            <a:pPr lvl="3" indent="-228600"/>
            <a:r>
              <a:rPr lang="en-US" altLang="en-US" dirty="0"/>
              <a:t>Fourth level</a:t>
            </a:r>
            <a:endParaRPr lang="en-US" altLang="en-US" dirty="0"/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 indent="-228600"/>
            <a:r>
              <a:rPr lang="en-US" altLang="en-US" dirty="0"/>
              <a:t>Second level</a:t>
            </a:r>
            <a:endParaRPr lang="en-US" altLang="en-US" dirty="0"/>
          </a:p>
          <a:p>
            <a:pPr lvl="2" indent="-228600"/>
            <a:r>
              <a:rPr lang="en-US" altLang="en-US" dirty="0"/>
              <a:t>Third level</a:t>
            </a:r>
            <a:endParaRPr lang="en-US" altLang="en-US" dirty="0"/>
          </a:p>
          <a:p>
            <a:pPr lvl="3" indent="-228600"/>
            <a:r>
              <a:rPr lang="en-US" altLang="en-US" dirty="0"/>
              <a:t>Fourth level</a:t>
            </a:r>
            <a:endParaRPr lang="en-US" altLang="en-US" dirty="0"/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1981200" y="2693988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solidFill>
                  <a:srgbClr val="FF0000"/>
                </a:solidFill>
                <a:latin typeface="Arial Black" panose="020B0A04020102020204" pitchFamily="34" charset="0"/>
                <a:ea typeface="Aharoni" pitchFamily="2" charset="-79"/>
              </a:rPr>
              <a:t>AI Medical Report Analyzer</a:t>
            </a:r>
            <a:endParaRPr lang="en-US" altLang="en-US" sz="2400" b="1" i="1" u="sng" dirty="0">
              <a:solidFill>
                <a:srgbClr val="FF000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8" name="Rectangle 5"/>
          <p:cNvSpPr txBox="1"/>
          <p:nvPr/>
        </p:nvSpPr>
        <p:spPr>
          <a:xfrm>
            <a:off x="1981200" y="1522890"/>
            <a:ext cx="8229600" cy="6740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ts val="0"/>
              </a:spcBef>
            </a:pPr>
            <a:r>
              <a:rPr lang="en-US" altLang="en-US" sz="2400" b="1" i="1" dirty="0">
                <a:solidFill>
                  <a:srgbClr val="00B0F0"/>
                </a:solidFill>
                <a:latin typeface="Times New Roman" panose="02020603050405020304" pitchFamily="18" charset="0"/>
              </a:rPr>
              <a:t>Project Progress Seminar 1 </a:t>
            </a:r>
            <a:endParaRPr lang="en-US" altLang="en-US" sz="2400" b="1" i="1" dirty="0">
              <a:solidFill>
                <a:srgbClr val="00B0F0"/>
              </a:solidFill>
              <a:latin typeface="Times New Roman" panose="02020603050405020304" pitchFamily="18" charset="0"/>
            </a:endParaRPr>
          </a:p>
          <a:p>
            <a:pPr algn="ctr" eaLnBrk="0" hangingPunct="0">
              <a:lnSpc>
                <a:spcPct val="90000"/>
              </a:lnSpc>
              <a:spcBef>
                <a:spcPts val="0"/>
              </a:spcBef>
            </a:pPr>
            <a:r>
              <a:rPr lang="en-US" altLang="en-US" b="1" i="1" dirty="0">
                <a:solidFill>
                  <a:srgbClr val="92D050"/>
                </a:solidFill>
                <a:latin typeface="Times New Roman" panose="02020603050405020304" pitchFamily="18" charset="0"/>
              </a:rPr>
              <a:t>(B. Tech 7</a:t>
            </a:r>
            <a:r>
              <a:rPr lang="en-US" altLang="en-US" b="1" i="1" baseline="30000" dirty="0">
                <a:solidFill>
                  <a:srgbClr val="92D050"/>
                </a:solidFill>
                <a:latin typeface="Times New Roman" panose="02020603050405020304" pitchFamily="18" charset="0"/>
              </a:rPr>
              <a:t>th</a:t>
            </a:r>
            <a:r>
              <a:rPr lang="en-US" altLang="en-US" b="1" i="1" dirty="0">
                <a:solidFill>
                  <a:srgbClr val="92D050"/>
                </a:solidFill>
                <a:latin typeface="Times New Roman" panose="02020603050405020304" pitchFamily="18" charset="0"/>
              </a:rPr>
              <a:t> Semester)</a:t>
            </a:r>
            <a:endParaRPr lang="en-US" altLang="en-US" b="1" i="1" u="sng" dirty="0">
              <a:solidFill>
                <a:srgbClr val="92D05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891506" y="2119313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1" name="Rectangle 8"/>
          <p:cNvSpPr/>
          <p:nvPr/>
        </p:nvSpPr>
        <p:spPr>
          <a:xfrm>
            <a:off x="0" y="25083"/>
            <a:ext cx="12012613" cy="15220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365125" lvl="1" indent="-285750" algn="ctr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COLLEGE OF ENGINEERING AND MANAGEMENT</a:t>
            </a:r>
            <a:r>
              <a:rPr lang="en-US" altLang="en-US" sz="2000" b="1" dirty="0">
                <a:solidFill>
                  <a:srgbClr val="05A724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</a:t>
            </a:r>
            <a:endParaRPr lang="en-US" altLang="en-US" sz="14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1400" dirty="0">
                <a:latin typeface="Calibri" panose="020F0502020204030204" pitchFamily="34" charset="0"/>
              </a:rPr>
              <a:t>(Approved by AICTE, New Delhi and Recognized by DTE, Maharashtra) 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   An Autonomous Institute </a:t>
            </a:r>
            <a:r>
              <a:rPr lang="en-US" sz="1400" dirty="0">
                <a:latin typeface="Calibri" panose="020F0502020204030204" pitchFamily="34" charset="0"/>
              </a:rPr>
              <a:t>Affiliated to Rashtrasant Tukadoji Maharaj Nagpur University, Nagpur</a:t>
            </a:r>
            <a:endParaRPr lang="en-US" sz="1100" dirty="0"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Accredited by NAAC with A+ Grade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</a:rPr>
              <a:t>Department of Data Science</a:t>
            </a:r>
            <a:endParaRPr lang="en-US" altLang="en-US" sz="2000" dirty="0"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13" name="Picture 12" descr="C:\Users\Roshan_Dir_SP\AppData\Local\Packages\Microsoft.Windows.Photos_8wekyb3d8bbwe\TempState\ShareServiceTempFolder\GHRCEM Nagpur.jpe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51"/>
            <a:ext cx="2331720" cy="150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521" y="47151"/>
            <a:ext cx="1874520" cy="9018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2"/>
          <p:cNvSpPr txBox="1"/>
          <p:nvPr/>
        </p:nvSpPr>
        <p:spPr>
          <a:xfrm>
            <a:off x="1169988" y="3119438"/>
            <a:ext cx="10031413" cy="33020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              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</a:t>
            </a:r>
            <a:r>
              <a:rPr kumimoji="0" lang="en-US" sz="45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Reena Chauhan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		                       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5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defRPr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Assistant Professor, Dept. of Data Science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</a:t>
            </a:r>
            <a:r>
              <a:rPr kumimoji="0" lang="en-US" sz="4500" b="1" u="sng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Projectees</a:t>
            </a: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45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Aditi Singh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(G2)     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Esha Patel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(G17)  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Priyanshu Thaore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(G41)</a:t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</a:t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Utkarsh Deshmukh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G58)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r>
              <a:rPr kumimoji="0" lang="en-US" sz="45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kumimoji="0" lang="en-US" sz="4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2600" b="1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tabLst>
                <a:tab pos="2776220" algn="l"/>
              </a:tabLst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Session 2026-2027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-20328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9" name="Content Placeholder 2"/>
          <p:cNvSpPr txBox="1"/>
          <p:nvPr/>
        </p:nvSpPr>
        <p:spPr bwMode="auto">
          <a:xfrm>
            <a:off x="428624" y="1041400"/>
            <a:ext cx="10848975" cy="471932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87500" lnSpcReduction="10000"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Survey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Objectives of Project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lang="en-US" strike="noStrike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Flow chart /Block Diagram</a:t>
            </a:r>
            <a:r>
              <a:rPr lang="en-US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/>
            </a:r>
            <a:endParaRPr lang="en-US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Mentor's Suggestions (If any)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Innovative Work (If any)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Work Done (till date)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Result &amp; Discussion (till date)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Cost Estimation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lvl="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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endParaRPr lang="en-US" sz="3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 2" panose="05020102010507070707"/>
              <a:buChar char="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5122" name="TextBox 1"/>
          <p:cNvSpPr txBox="1"/>
          <p:nvPr/>
        </p:nvSpPr>
        <p:spPr>
          <a:xfrm>
            <a:off x="850265" y="1828164"/>
            <a:ext cx="7159625" cy="369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Artificial Intelligence is transforming healthcare by enabling faster, more accurate interpretation of clinical data. A large majority of Electronic Health Record (EHR) data remains unstructured, existing as free-text clinical notes rather than structured, searchable fields. Medical reports are often filled with complex terminology that is difficult for patients without a medical background to understand, creating a communication gap and, in many cases, confusion, anxiety, or misinterpretation of important health information.
The AI Medical Report Analyzer converts complex medical reports into simple, patient-friendly language using OCR and NLP techniques that reliably extract clinical entities from unstructured medical text. It provides quick insights without requiring deep medical knowledge, improving accessibility and decision-making for patients.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Title 1"/>
          <p:cNvSpPr txBox="1"/>
          <p:nvPr/>
        </p:nvSpPr>
        <p:spPr bwMode="auto">
          <a:xfrm>
            <a:off x="0" y="-182563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822325"/>
          <a:ext cx="12191999" cy="51386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/>
                <a:gridCol w="4946795"/>
                <a:gridCol w="3048000"/>
                <a:gridCol w="3048000"/>
              </a:tblGrid>
              <a:tr h="9031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z="1100"/>
                        <a:t>Clinical entity detection in cancer reports
Moreno-Casanova, J. et al.</a:t>
                      </a:r>
                      <a:endParaRPr lang="en-IN" dirty="0"/>
                    </a:p>
                    <a:p>
                      <a:pPr algn="ctr"/>
                      <a:r>
                        <a:rPr lang="en-IN" dirty="0" err="1"/>
                        <a:t/>
                      </a:r>
                      <a:r>
                        <a:rPr lang="en-IN" dirty="0"/>
                        <a:t/>
                      </a:r>
                      <a:r>
                        <a:rPr lang="en-IN" dirty="0" err="1"/>
                        <a:t/>
                      </a:r>
                      <a:r>
                        <a:rPr lang="en-IN" dirty="0"/>
                        <a:t/>
                      </a:r>
                      <a:r>
                        <a:rPr lang="en-IN" dirty="0" err="1"/>
                        <a:t/>
                      </a:r>
                      <a:r>
                        <a:rPr lang="en-IN" dirty="0"/>
                        <a:t/>
                      </a:r>
                      <a:r>
                        <a:rPr lang="en-IN" dirty="0" err="1"/>
                        <a:t/>
                      </a:r>
                      <a:r>
                        <a:rPr lang="en-IN" dirty="0"/>
                        <a:t/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arXiv preprint, 2025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sz="1100"/>
                        <a:t>Fine-tuned RoBERTa model on 600 reports; preprocessing improved accuracy.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Patient-friendly oncology summaries via LLMs</a:t>
                      </a:r>
                      <a:br/>
                      <a:r>
                        <a:t>Harchandani, S. et al.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medRxiv preprint, 2025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Rated 4.8/5 accuracy, 4.6/5 empathy; staging codes still confused patients.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Adapted LLMs outperform experts in summarization</a:t>
                      </a:r>
                      <a:br/>
                      <a:r>
                        <a:t>Van Veen, D. et al.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arXiv preprint, 2024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 LLMs tested; rated equal/better than expert summaries in 81% of cases.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NER in electronic health records: a review</a:t>
                      </a:r>
                      <a:br/>
                      <a:r>
                        <a:t>Durango, M.C. et al.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Healthcare Informatics</a:t>
                      </a:r>
                      <a:br/>
                      <a:r>
                        <a:t>Research, 2023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Traced NER 2011-2022; BERT-based models dominant since 2016.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Improving extraction from pathology reports</a:t>
                      </a:r>
                      <a:br/>
                      <a:r>
                        <a:t>Zeng, K.G. et al.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Research Square preprint, 2023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BERT NER on 1,438 reports; F1 0.916 vs. 0.843 baseline.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Survey: NER &amp; relation extraction on clinical text</a:t>
                      </a:r>
                      <a:br/>
                      <a:r>
                        <a:t>Bose, P. et al.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Applied Sciences, 2021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Identified data scarcity &amp; entity ambiguity as key open challenges.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822325"/>
          <a:ext cx="12191999" cy="45593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9204"/>
                <a:gridCol w="4946795"/>
                <a:gridCol w="3048000"/>
                <a:gridCol w="3048000"/>
              </a:tblGrid>
              <a:tr h="9031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Sr. No.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Paper</a:t>
                      </a:r>
                      <a:r>
                        <a:rPr lang="en-US" sz="1800" baseline="0" dirty="0"/>
                        <a:t> Title and its Author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Details of Publication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Findings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Speech and Language Processing (3rd ed.)</a:t>
                      </a:r>
                      <a:br/>
                      <a:r>
                        <a:t>Jurafsky, D. and Martin, J.H.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Stanford Univ., 2024</a:t>
                      </a:r>
                      <a:br/>
                      <a:r>
                        <a:t>(Textbook)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Foundational NLP techniques underlying this project's entity-extraction module.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  <a:tr h="60935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Patients' medical history summarizer using NLP</a:t>
                      </a:r>
                      <a:br/>
                      <a:r>
                        <a:t>Dharrao, D. et al.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Proc. IEEE Conf., 2023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T5 model produced the most coherent, information-dense summaries.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9" marR="91439" marT="45728" marB="45728" anchor="ctr"/>
                </a:tc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18" name="TextBox 7"/>
          <p:cNvSpPr txBox="1"/>
          <p:nvPr/>
        </p:nvSpPr>
        <p:spPr>
          <a:xfrm>
            <a:off x="880745" y="1014413"/>
            <a:ext cx="7159625" cy="2031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Objective of the Project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>
                <a:latin typeface="Times New Roman"/>
              </a:rPr>
              <a:t>1. To extract text from scanned medical reports using OCR.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>
                <a:latin typeface="Times New Roman"/>
              </a:rPr>
              <a:t>2. To extract and classify key clinical entities -- patient details, diagnoses, medications, test results -- using NLP.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To generate a simple, easy-to-understand summary of the report.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To provide a secure platform for uploading and managing medical reports.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To develop a user-friendly web application using FastAPI and React.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To reduce manual analysis time and evaluate performance using precision, recall, and F1-score.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>
                <a:latin typeface="Times New Roman"/>
              </a:rPr>
              <a:t>7. To maintain a history of analyzed reports, enabling patients to track health parameters over time.</a:t>
            </a: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 / Block Diagram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57200" y="5250000"/>
            <a:ext cx="11277600" cy="700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 sz="1500">
                <a:latin typeface="Times New Roman" panose="02020603050405020304" pitchFamily="18" charset="0"/>
              </a:rPr>
              <a:t>Six-stage pipeline: Upload -&gt; Preprocessing (OCR) -&gt; NLP Analysis -&gt; Entity Extraction -&gt; Classification -&gt; Output Generation.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170" name="Picture 7169" descr="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000"/>
            <a:ext cx="11277600" cy="3064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Mentor’s Suggestion  (if any)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9825" y="1303973"/>
            <a:ext cx="7159625" cy="34994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Mentor's Suggestion (if any)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updated following the guide's review at this seminar.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  ( if any)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785" y="1288733"/>
            <a:ext cx="7159625" cy="225292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Work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simplification of numeric and clinical codes (e.g. cancer-staging codes, lab reference ranges) within AI-generated summaries -- directly addressing a gap identified in our own literature review, where leftover technical codes were found to still confuse patients even in otherwise well-rated AI summaries.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(till date)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0785" y="1288733"/>
            <a:ext cx="7159625" cy="225292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(till date)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Literature review completed; 8 papers reviewed spanning clinical NER, LLM-based summarization, and patient-facing report simplification.
2. Dataset selected and explored: MTSamples corpus, 4,999 real transcribed medical reports across 40 specialties.
3. Synthetic scanned-report generator built and tested: converts typed reports into realistic scanned images (with blur and skew) paired with ground-truth text, for OCR benchmarking at scale.
4. Entity-extraction bootstrapping pipeline built using a pretrained biomedical NER model (scispaCy), ready to auto-label reports ahead of manual correction.
5. Project repository structure and work-plan finalized across all four modules.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fontAlgn="auto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auto">
              <a:lnSpc>
                <a:spcPct val="150000"/>
              </a:lnSpc>
              <a:spcAft>
                <a:spcPts val="0"/>
              </a:spcAft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2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 (till date)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3145" y="1196976"/>
            <a:ext cx="715962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eaLnBrk="0" hangingPunct="0"/>
            <a:r>
              <a:rPr lang="en-US" dirty="0">
                <a:latin typeface="Times New Roman" panose="02020603050405020304" pitchFamily="18" charset="0"/>
              </a:rPr>
              <a:t>No accuracy metrics have been generated yet -- entity extraction, classification, and OCR testing are still in progress. Concrete artifacts produced so far:
- Dataset profile: 4,999 reports, 40 medical specialties, average ~3,050 characters per report; heavily imbalanced (Surgery: 1,103 reports vs. several specialties under 15).
- 50 synthetic scanned-report images generated with paired ground-truth text, ready for OCR accuracy testing.
- Entity-bootstrapping script ready to run at scale using a pretrained biomedical NER model.
Next: run OCR against ground truth, and entity extraction on a sample batch, to obtain first quantitative results before the next review.</a:t>
            </a:r>
            <a:r>
              <a:rPr lang="en-US" altLang="en-US" dirty="0">
                <a:latin typeface="Times New Roman" panose="02020603050405020304" pitchFamily="18" charset="0"/>
              </a:rPr>
              <a:t/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0242" name="Title 1"/>
          <p:cNvSpPr txBox="1"/>
          <p:nvPr/>
        </p:nvSpPr>
        <p:spPr>
          <a:xfrm>
            <a:off x="2476500" y="40989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Cost Estimation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99159" y="929640"/>
          <a:ext cx="10713721" cy="5303522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883921"/>
                <a:gridCol w="4734350"/>
                <a:gridCol w="2547725"/>
                <a:gridCol w="2547725"/>
              </a:tblGrid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Sr. No.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Items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Quantity 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Amount In </a:t>
                      </a:r>
                      <a:endParaRPr lang="en-IN" sz="18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(Rs.)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483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1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Development tools &amp; libraries (spaCy, scispaCy, FastAPI, React, scikit-learn)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1 set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 (Open Source)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2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Annotation tool (Label Studio) for entity correction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1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0 (Open Source)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3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OCR engine (Tesseract)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1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0 (Open Source)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483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4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LLM API credits for summarization (dev + testing usage)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Est.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2,000 - 5,000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5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Cloud hosting / deployment (backend + database, few months)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Est.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1,500 - 3,000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678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6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Domain / miscellaneous / testing buffer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Est.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500 - 1,000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  <a:tr h="667818">
                <a:tc gridSpan="3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Total Amount (Rs.)</a:t>
                      </a:r>
                      <a:endParaRPr lang="en-IN" sz="18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4,000 - 9,000 (est.)</a:t>
                      </a:r>
                      <a:endParaRPr lang="en-IN" sz="18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489" marR="66489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1266" name="Title 1"/>
          <p:cNvSpPr txBox="1"/>
          <p:nvPr/>
        </p:nvSpPr>
        <p:spPr>
          <a:xfrm>
            <a:off x="2293938" y="205422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244" name="Table 10243"/>
          <p:cNvGraphicFramePr/>
          <p:nvPr/>
        </p:nvGraphicFramePr>
        <p:xfrm>
          <a:off x="119744" y="883603"/>
          <a:ext cx="11974286" cy="490100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833800"/>
                <a:gridCol w="1391550"/>
                <a:gridCol w="1527361"/>
                <a:gridCol w="1469055"/>
                <a:gridCol w="1444166"/>
                <a:gridCol w="1308354"/>
              </a:tblGrid>
              <a:tr h="50355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 Months  Activities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JUNE</a:t>
                      </a:r>
                      <a:r>
                        <a:rPr sz="1600" b="1" dirty="0"/>
                        <a:t>'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600" b="1" dirty="0"/>
                        <a:t>JULY</a:t>
                      </a:r>
                      <a:r>
                        <a:rPr sz="1600" b="1" dirty="0"/>
                        <a:t>'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AUG</a:t>
                      </a:r>
                      <a:r>
                        <a:rPr sz="1600" b="1" dirty="0"/>
                        <a:t>'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SEPT</a:t>
                      </a:r>
                      <a:r>
                        <a:rPr sz="1600" b="1" dirty="0"/>
                        <a:t>'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US" sz="1600" b="1" dirty="0"/>
                        <a:t>OCT</a:t>
                      </a:r>
                      <a:r>
                        <a:rPr sz="1600" b="1" dirty="0"/>
                        <a:t>'</a:t>
                      </a:r>
                      <a:r>
                        <a:rPr lang="en-US" sz="1600" b="1" dirty="0"/>
                        <a:t>26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330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Literature Reviews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7311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Dataset Collection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/>
                        <a:t>√</a:t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4695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OCR Development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48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lang="en-IN" sz="1600" b="1" dirty="0"/>
                        <a:t>NLP &amp; NER Module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/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4933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/>
                        <a:t>AI Summary Module</a:t>
                      </a:r>
                      <a:endParaRPr lang="en-IN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48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Frontend and Backend Development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48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5000"/>
                        </a:lnSpc>
                        <a:buNone/>
                      </a:pPr>
                      <a:r>
                        <a:rPr sz="1600" b="1" dirty="0"/>
                        <a:t>Preparation of Project Report</a:t>
                      </a:r>
                      <a:endParaRPr lang="en-US" sz="16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endParaRPr lang="en-IN" sz="2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2800" b="1"/>
                        <a:t>√</a:t>
                      </a: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  <a:tr h="548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i="0" u="none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Thesis Submission</a:t>
                      </a:r>
                      <a:endParaRPr lang="en-US" sz="1600" b="1" i="0" u="none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lvl="0" algn="ctr" eaLnBrk="1" hangingPunct="1">
                        <a:lnSpc>
                          <a:spcPct val="115000"/>
                        </a:lnSpc>
                        <a:buNone/>
                      </a:pPr>
                      <a:endParaRPr lang="en-US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2800" b="1" dirty="0"/>
                        <a:t>√</a:t>
                      </a:r>
                      <a:endParaRPr lang="en-IN" sz="2800" b="1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7" marR="68587" marT="0" marB="0" anchor="ctr"/>
                </a:tc>
              </a:tr>
            </a:tbl>
          </a:graphicData>
        </a:graphic>
      </p:graphicFrame>
      <p:sp>
        <p:nvSpPr>
          <p:cNvPr id="14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Work – Plan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4985" y="1389986"/>
            <a:ext cx="111452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Durango, M.C., Torres-Silva, E.A. and Orozco-Duque, A. (2023). Named entity recognition in electronic health records: A methodological review. Healthcare Informatics Research, 29(4): 286-297.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984" y="2617262"/>
            <a:ext cx="10244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Text books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Jurafsky, D. and Martin, J.H. (2024). Speech and Language Processing (3rd ed., draft). Stanford University: Stanford, CA.</a:t>
            </a:r>
            <a:r>
              <a:rPr lang="en-IN" i="1" dirty="0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4" y="3581108"/>
            <a:ext cx="112655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Conference proceedings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Dharrao, D. et al. (2023). Patients' medical history summarizer using NLP. In Proc. IEEE Conference Publication, 2023.</a:t>
            </a:r>
            <a:r>
              <a:rPr lang="en-IN" dirty="0" err="1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r>
              <a:rPr lang="en-IN" i="1" dirty="0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14984" y="4819968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Journals (contd.)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Bose, P., Srinivasan, S., Sleeman, W.C. IV, Palta, J., Kapoor, R. and Ghosh, P. (2021). A survey on recent named entity recognition and relationship extraction techniques on clinical texts. Applied Sciences, 11(18): 8319.</a:t>
            </a:r>
            <a:r>
              <a:rPr lang="en-IN" i="1" dirty="0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4982" y="1393190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Online journals with a DOI (Digital Object Identifier)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Moreno-Casanova, J. et al. (2025). Automated detection of clinical entities in lung and breast cancer reports using NLP techniques. arXiv preprint. doi:10.48550/arXiv.2505.09794.</a:t>
            </a:r>
            <a:r>
              <a:rPr lang="en-IN" i="1" dirty="0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r>
              <a:rPr lang="en-IN" dirty="0" err="1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14982" y="2719984"/>
            <a:ext cx="11463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journals without a DOI</a:t>
            </a:r>
            <a:endParaRPr lang="en-I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Van Veen, D., Van Uden, C., Blankemeier, L. et al. (2024). Adapted large language models can outperform medical experts in clinical text summarization. arXiv preprint. Retrieved from https://arxiv.org/abs/2309.07430.</a:t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14981" y="4025525"/>
            <a:ext cx="114636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journals with a DOI (contd.)</a:t>
            </a:r>
            <a:endParaRPr lang="en-I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Harchandani, S. et al. (2025). Patient-friendly summaries of oncology consultations generated by large language models. medRxiv preprint. doi:10.1101/2025.10.13.25337951; Zeng, K.G. et al. (2023). Improving information extraction from pathology reports using NER. Research Square preprint. doi:10.21203/rs.3.rs-3035772/v1.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0" name="TextBox 7"/>
          <p:cNvSpPr txBox="1"/>
          <p:nvPr/>
        </p:nvSpPr>
        <p:spPr>
          <a:xfrm>
            <a:off x="514985" y="831533"/>
            <a:ext cx="71596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en-US" dirty="0">
                <a:latin typeface="Times New Roman" panose="02020603050405020304" pitchFamily="18" charset="0"/>
              </a:rPr>
              <a:t>List of papers/books/websites etc refer for project</a:t>
            </a:r>
            <a:endParaRPr lang="en-US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4984" y="1393190"/>
            <a:ext cx="111740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Online books</a:t>
            </a:r>
            <a:endParaRPr lang="en-IN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Not applicable to this project's reference list.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</a:rPr>
              <a:t/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14984" y="2508290"/>
            <a:ext cx="1117409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Chapters from a book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Not applicable to this project's reference list.</a:t>
            </a:r>
            <a:r>
              <a:rPr lang="en-IN" dirty="0" err="1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r>
              <a:rPr lang="en-IN" i="1" dirty="0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4984" y="3987423"/>
            <a:ext cx="112807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</a:rPr>
              <a:t>Books in print form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Not applicable to this project's reference list.</a:t>
            </a:r>
            <a:r>
              <a:rPr lang="en-IN" dirty="0" err="1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r>
              <a:rPr lang="en-IN" i="1" dirty="0">
                <a:latin typeface="Times New Roman" panose="02020603050405020304" pitchFamily="18" charset="0"/>
              </a:rPr>
              <a:t/>
            </a:r>
            <a:r>
              <a:rPr lang="en-IN" dirty="0">
                <a:latin typeface="Times New Roman" panose="02020603050405020304" pitchFamily="18" charset="0"/>
              </a:rPr>
              <a:t/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14983" y="5046266"/>
            <a:ext cx="111740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</a:rPr>
              <a:t>Dissertations and Thesis</a:t>
            </a:r>
            <a:endParaRPr lang="en-IN" b="1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</a:rPr>
              <a:t>Not applicable to this project's reference list.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>
            <a:fillRect/>
          </a:stretch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4623</Words>
  <Application>WPS Presentation</Application>
  <PresentationFormat>Widescreen</PresentationFormat>
  <Paragraphs>321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 Light</vt:lpstr>
      <vt:lpstr>Arial Black</vt:lpstr>
      <vt:lpstr>Aharoni</vt:lpstr>
      <vt:lpstr>Segoe Print</vt:lpstr>
      <vt:lpstr>Castellar</vt:lpstr>
      <vt:lpstr>Times New Roman</vt:lpstr>
      <vt:lpstr>Wingdings 2</vt:lpstr>
      <vt:lpstr>Bodoni MT</vt:lpstr>
      <vt:lpstr>Microsoft YaHei</vt:lpstr>
      <vt:lpstr>Arial Unicode MS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cdac</cp:lastModifiedBy>
  <cp:revision>125</cp:revision>
  <cp:lastPrinted>2018-01-20T12:20:00Z</cp:lastPrinted>
  <dcterms:created xsi:type="dcterms:W3CDTF">2018-01-20T09:03:00Z</dcterms:created>
  <dcterms:modified xsi:type="dcterms:W3CDTF">2026-08-20T09:14:33Z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AAE50667EE3E4E568B69A387716BD329_13</vt:lpwstr>
  </property>
</Properties>
</file>